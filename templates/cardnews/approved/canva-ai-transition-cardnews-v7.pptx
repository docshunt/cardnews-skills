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d52c734c34fcb" /><Relationship Type="http://schemas.openxmlformats.org/officeDocument/2006/relationships/extended-properties" Target="/docProps/app.xml" Id="Re8b85c2d271f4508" /><Relationship Type="http://schemas.openxmlformats.org/officeDocument/2006/relationships/officeDocument" Target="/ppt/presentation.xml" Id="R43821daf396442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2bc7f2b604d86"/>
  </p:sldMasterIdLst>
  <p:notesMasterIdLst>
    <p:notesMasterId xmlns:r="http://schemas.openxmlformats.org/officeDocument/2006/relationships" r:id="R5b6e3e3417b44304"/>
  </p:notesMasterIdLst>
  <p:sldIdLst>
    <p:sldId xmlns:r="http://schemas.openxmlformats.org/officeDocument/2006/relationships" id="256" r:id="Rd1a007d887f743f2"/>
    <p:sldId xmlns:r="http://schemas.openxmlformats.org/officeDocument/2006/relationships" id="257" r:id="Rdc6f5caaad4545d2"/>
    <p:sldId xmlns:r="http://schemas.openxmlformats.org/officeDocument/2006/relationships" id="258" r:id="R332b15da3eaa450a"/>
    <p:sldId xmlns:r="http://schemas.openxmlformats.org/officeDocument/2006/relationships" id="259" r:id="R436b2a8650d04efa"/>
    <p:sldId xmlns:r="http://schemas.openxmlformats.org/officeDocument/2006/relationships" id="260" r:id="R6a71e63303e44b06"/>
    <p:sldId xmlns:r="http://schemas.openxmlformats.org/officeDocument/2006/relationships" id="261" r:id="R426cbdc13d5446c5"/>
    <p:sldId xmlns:r="http://schemas.openxmlformats.org/officeDocument/2006/relationships" id="262" r:id="R3a1ba077aa5049c8"/>
    <p:sldId xmlns:r="http://schemas.openxmlformats.org/officeDocument/2006/relationships" id="263" r:id="R94766b4fc9004cde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22b3b561f74eb6" /><Relationship Type="http://schemas.openxmlformats.org/officeDocument/2006/relationships/slideMaster" Target="/ppt/slideMasters/slideMaster1.xml" Id="R9dd2bc7f2b604d86" /><Relationship Type="http://schemas.openxmlformats.org/officeDocument/2006/relationships/notesMaster" Target="/ppt/notesMasters/notesMaster1.xml" Id="R5b6e3e3417b44304" /><Relationship Type="http://schemas.openxmlformats.org/officeDocument/2006/relationships/presProps" Target="/ppt/presProps.xml" Id="R852558a5b4804a98" /><Relationship Type="http://schemas.openxmlformats.org/officeDocument/2006/relationships/viewProps" Target="/ppt/viewProps.xml" Id="R77812773b2c742a3" /><Relationship Type="http://schemas.openxmlformats.org/officeDocument/2006/relationships/tableStyles" Target="/ppt/tableStyles.xml" Id="R0d2bb1d696084585" /><Relationship Type="http://schemas.openxmlformats.org/officeDocument/2006/relationships/slide" Target="/ppt/slides/slide1.xml" Id="Rd1a007d887f743f2" /><Relationship Type="http://schemas.openxmlformats.org/officeDocument/2006/relationships/slide" Target="/ppt/slides/slide2.xml" Id="Rdc6f5caaad4545d2" /><Relationship Type="http://schemas.openxmlformats.org/officeDocument/2006/relationships/slide" Target="/ppt/slides/slide3.xml" Id="R332b15da3eaa450a" /><Relationship Type="http://schemas.openxmlformats.org/officeDocument/2006/relationships/slide" Target="/ppt/slides/slide4.xml" Id="R436b2a8650d04efa" /><Relationship Type="http://schemas.openxmlformats.org/officeDocument/2006/relationships/slide" Target="/ppt/slides/slide5.xml" Id="R6a71e63303e44b06" /><Relationship Type="http://schemas.openxmlformats.org/officeDocument/2006/relationships/slide" Target="/ppt/slides/slide6.xml" Id="R426cbdc13d5446c5" /><Relationship Type="http://schemas.openxmlformats.org/officeDocument/2006/relationships/slide" Target="/ppt/slides/slide7.xml" Id="R3a1ba077aa5049c8" /><Relationship Type="http://schemas.openxmlformats.org/officeDocument/2006/relationships/slide" Target="/ppt/slides/slide8.xml" Id="R94766b4fc900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abe1a23b4246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81ba50ea6744dc" /><Relationship Type="http://schemas.openxmlformats.org/officeDocument/2006/relationships/notesMaster" Target="/ppt/notesMasters/notesMaster1.xml" Id="R18d1bad9e5fe48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2c9bb8ce74831" /><Relationship Type="http://schemas.openxmlformats.org/officeDocument/2006/relationships/notesMaster" Target="/ppt/notesMasters/notesMaster1.xml" Id="Reb5118d8b01b43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9db9698ad64af5" /><Relationship Type="http://schemas.openxmlformats.org/officeDocument/2006/relationships/notesMaster" Target="/ppt/notesMasters/notesMaster1.xml" Id="R217bc0d4b9e04a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ecc2bd83ae4f04" /><Relationship Type="http://schemas.openxmlformats.org/officeDocument/2006/relationships/notesMaster" Target="/ppt/notesMasters/notesMaster1.xml" Id="R1f53ce9b50a348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face722f6641f2" /><Relationship Type="http://schemas.openxmlformats.org/officeDocument/2006/relationships/notesMaster" Target="/ppt/notesMasters/notesMaster1.xml" Id="R87d08bd7cb6d46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5c1e3240954745" /><Relationship Type="http://schemas.openxmlformats.org/officeDocument/2006/relationships/notesMaster" Target="/ppt/notesMasters/notesMaster1.xml" Id="Rab948e535e1a45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ec3b862d9c40ea" /><Relationship Type="http://schemas.openxmlformats.org/officeDocument/2006/relationships/notesMaster" Target="/ppt/notesMasters/notesMaster1.xml" Id="R21b51d594a6f48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5844b0f84841e6" /><Relationship Type="http://schemas.openxmlformats.org/officeDocument/2006/relationships/notesMaster" Target="/ppt/notesMasters/notesMaster1.xml" Id="R748585fd5210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https://www.canva.com/newsroom/news/canva-create-2026-ai/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https://www.canva.com/newsroom/news/canva-next-era/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https://www.canva.com/newsroom/news/canva-create-2026-ai/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https://www.canva.com/newsroom/news/canva-create-2026-ai/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https://www.canva.com/it_it/canva-ai/</a:t>
            </a:r>
          </a:p>
          <a:p xmlns:a="http://schemas.openxmlformats.org/drawingml/2006/main">
            <a:r>
              <a:t>https://www.contentgrip.com/canva-ai-2-0-agentic-workflows/ (Canva editor screenshot)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https://www.canva.com/newsroom/news/canva-2025-wrap/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https://www.canva.com/newsroom/news/canva-next-era/</a:t>
            </a:r>
          </a:p>
          <a:p xmlns:a="http://schemas.openxmlformats.org/drawingml/2006/main">
            <a:r>
              <a:t>https://www.canva.com/visual-suite/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https://www.canva.com/newsroom/news/canva-next-era/</a:t>
            </a:r>
          </a:p>
          <a:p xmlns:a="http://schemas.openxmlformats.org/drawingml/2006/main">
            <a:r>
              <a:t>DocsHunt supplied logo asset reused from v6.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6b39f76e545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e06de0819a4541" /><Relationship Type="http://schemas.openxmlformats.org/officeDocument/2006/relationships/slideLayout" Target="/ppt/slideLayouts/slideLayout1.xml" Id="R178e30cb176c4e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8e30cb176c4e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de731aaa54189" /><Relationship Type="http://schemas.openxmlformats.org/officeDocument/2006/relationships/image" Target="/ppt/media/image.png" Id="R2b29ce533cb9496f" /><Relationship Type="http://schemas.openxmlformats.org/officeDocument/2006/relationships/image" Target="/ppt/media/image2.png" Id="Ref4962f95cb4425a" /><Relationship Type="http://schemas.openxmlformats.org/officeDocument/2006/relationships/notesSlide" Target="/ppt/notesSlides/notesSlide1.xml" Id="R4663ae0739144f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cc5d9eba84ec1" /><Relationship Type="http://schemas.openxmlformats.org/officeDocument/2006/relationships/image" Target="/ppt/media/image3.png" Id="Ra86ea429ad03472e" /><Relationship Type="http://schemas.openxmlformats.org/officeDocument/2006/relationships/notesSlide" Target="/ppt/notesSlides/notesSlide2.xml" Id="R23324e12d65844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4b0b955a74923" /><Relationship Type="http://schemas.openxmlformats.org/officeDocument/2006/relationships/image" Target="/ppt/media/image4.png" Id="Rbeb90d9c80064a18" /><Relationship Type="http://schemas.openxmlformats.org/officeDocument/2006/relationships/notesSlide" Target="/ppt/notesSlides/notesSlide3.xml" Id="R713e5da063e943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9cd334bee4f62" /><Relationship Type="http://schemas.openxmlformats.org/officeDocument/2006/relationships/image" Target="/ppt/media/image.jpeg" Id="Rb59f111fdb4a4866" /><Relationship Type="http://schemas.openxmlformats.org/officeDocument/2006/relationships/notesSlide" Target="/ppt/notesSlides/notesSlide4.xml" Id="R1f83ff9acd7d46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6adca242b4763" /><Relationship Type="http://schemas.openxmlformats.org/officeDocument/2006/relationships/image" Target="/ppt/media/image5.png" Id="Rddeec48a8cf94128" /><Relationship Type="http://schemas.openxmlformats.org/officeDocument/2006/relationships/notesSlide" Target="/ppt/notesSlides/notesSlide5.xml" Id="R8f59d58100dd46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52eea33024e11" /><Relationship Type="http://schemas.openxmlformats.org/officeDocument/2006/relationships/image" Target="/ppt/media/image6.png" Id="R118382fcf81748c3" /><Relationship Type="http://schemas.openxmlformats.org/officeDocument/2006/relationships/notesSlide" Target="/ppt/notesSlides/notesSlide6.xml" Id="R6abfde8f1ddd4e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8434df9c54d39" /><Relationship Type="http://schemas.openxmlformats.org/officeDocument/2006/relationships/image" Target="/ppt/media/image7.png" Id="R7c02d575cc7f4264" /><Relationship Type="http://schemas.openxmlformats.org/officeDocument/2006/relationships/notesSlide" Target="/ppt/notesSlides/notesSlide7.xml" Id="Rc31d24c49bc147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c3a189a484329" /><Relationship Type="http://schemas.openxmlformats.org/officeDocument/2006/relationships/image" Target="/ppt/media/image8.png" Id="R4bdd763a3d5745fd" /><Relationship Type="http://schemas.openxmlformats.org/officeDocument/2006/relationships/notesSlide" Target="/ppt/notesSlides/notesSlide8.xml" Id="R0b77cf914f434f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9ce533cb9496f"/>
          <a:srcRect xmlns:a="http://schemas.openxmlformats.org/drawingml/2006/main" l="27500" t="0" r="27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rd-1-cover-fade">
            <a:extLst xmlns:a="http://schemas.openxmlformats.org/drawingml/2006/main">
              <a:ext uri="{FF2B5EF4-FFF2-40B4-BE49-F238E27FC236}">
                <a16:creationId xmlns:a16="http://schemas.microsoft.com/office/drawing/2014/main" id="{C75AC82C-D683-41AF-83CB-F4630BB3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0000">
                  <a:alpha val="94951"/>
                </a:srgbClr>
              </a:gs>
              <a:gs pos="100000">
                <a:srgbClr val="000000">
                  <a:alpha val="0"/>
                </a:srgbClr>
              </a:gs>
            </a:gsLst>
            <a:lin ang="15600000" scaled="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ard-1-headline">
            <a:extLst xmlns:a="http://schemas.openxmlformats.org/drawingml/2006/main">
              <a:ext uri="{FF2B5EF4-FFF2-40B4-BE49-F238E27FC236}">
                <a16:creationId xmlns:a16="http://schemas.microsoft.com/office/drawing/2014/main" id="{D846466F-C61E-40C8-9F8D-254EDC2F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22870"/>
            <a:ext cx="8915400" cy="2726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152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6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AI가 디자인을 만들기 시작했는데,</a:t>
            </a:r>
            <a:endParaRPr sz="72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6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Canva는 왜 더 커졌을까?</a:t>
            </a:r>
            <a:endParaRPr sz="72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9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962f95cb4425a"/>
          <a:stretch xmlns:a="http://schemas.openxmlformats.org/drawingml/2006/main"/>
        </p:blipFill>
        <p:spPr>
          <a:xfrm xmlns:a="http://schemas.openxmlformats.org/drawingml/2006/main">
            <a:off x="4097357" y="11745684"/>
            <a:ext cx="2092286" cy="52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81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rd-2-headline">
            <a:extLst xmlns:a="http://schemas.openxmlformats.org/drawingml/2006/main">
              <a:ext uri="{FF2B5EF4-FFF2-40B4-BE49-F238E27FC236}">
                <a16:creationId xmlns:a16="http://schemas.microsoft.com/office/drawing/2014/main" id="{C60651FF-263A-4158-9F8A-9528FE60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915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1. Canva는 AI로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시작한 회사가 아닙니다.</a:t>
            </a:r>
          </a:p>
        </p:txBody>
      </p:sp>
      <p:sp>
        <p:nvSpPr>
          <p:cNvPr id="2" name="card-2-body">
            <a:extLst xmlns:a="http://schemas.openxmlformats.org/drawingml/2006/main">
              <a:ext uri="{FF2B5EF4-FFF2-40B4-BE49-F238E27FC236}">
                <a16:creationId xmlns:a16="http://schemas.microsoft.com/office/drawing/2014/main" id="{5FFDB848-D0A5-4BF0-ABD9-E2ECD0C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89154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4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2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Canva가 처음 풀었던 문제는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2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디자인을 전공하지 않아도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2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직접 만들 수 있게 하는 일이었습니다.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3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2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디자인 툴은 어렵고,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2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외주를 맡기기엔 시간과 비용이 들었습니다.</a:t>
            </a:r>
          </a:p>
        </p:txBody>
      </p:sp>
      <p:sp>
        <p:nvSpPr>
          <p:cNvPr id="3" name="card-2-emphasis">
            <a:extLst xmlns:a="http://schemas.openxmlformats.org/drawingml/2006/main">
              <a:ext uri="{FF2B5EF4-FFF2-40B4-BE49-F238E27FC236}">
                <a16:creationId xmlns:a16="http://schemas.microsoft.com/office/drawing/2014/main" id="{8FE92962-EE0B-46F9-A999-B4641739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891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100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Canva는 디자인의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100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진입장벽부터 낮췄습니다.</a:t>
            </a:r>
          </a:p>
        </p:txBody>
      </p:sp>
      <p:pic>
        <p:nvPicPr>
          <p:cNvPr id="10" name="그림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ea429ad03472e"/>
          <a:srcRect xmlns:a="http://schemas.openxmlformats.org/drawingml/2006/main" l="4116" t="0" r="4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0287000" cy="6305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41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90d9c80064a18"/>
          <a:srcRect xmlns:a="http://schemas.openxmlformats.org/drawingml/2006/main" l="26496" t="0" r="264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6686550"/>
          </a:xfrm>
          <a:prstGeom xmlns:a="http://schemas.openxmlformats.org/drawingml/2006/main" prst="rect">
            <a:avLst/>
          </a:prstGeom>
        </p:spPr>
      </p:pic>
      <p:sp>
        <p:nvSpPr>
          <p:cNvPr id="2" name="card-3-headline">
            <a:extLst xmlns:a="http://schemas.openxmlformats.org/drawingml/2006/main">
              <a:ext uri="{FF2B5EF4-FFF2-40B4-BE49-F238E27FC236}">
                <a16:creationId xmlns:a16="http://schemas.microsoft.com/office/drawing/2014/main" id="{68BB3130-EBAC-42ED-8630-3D7D450B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9950"/>
            <a:ext cx="891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2. 그런데 AI가 등장했습니다.</a:t>
            </a:r>
          </a:p>
        </p:txBody>
      </p:sp>
      <p:sp>
        <p:nvSpPr>
          <p:cNvPr id="3" name="card-3-body">
            <a:extLst xmlns:a="http://schemas.openxmlformats.org/drawingml/2006/main">
              <a:ext uri="{FF2B5EF4-FFF2-40B4-BE49-F238E27FC236}">
                <a16:creationId xmlns:a16="http://schemas.microsoft.com/office/drawing/2014/main" id="{8B5E91AC-4774-4571-A65B-D64537D1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34375"/>
            <a:ext cx="89154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765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그런데 생성형 AI가 등장했습니다.</a:t>
            </a:r>
            <a:endParaRPr sz="2325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3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이제는 프롬프트 한 줄이면</a:t>
            </a:r>
            <a:endParaRPr sz="2325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이미지와 디자인을 만들 수 있습니다.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3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‘직접 만들 수 있다’만으로는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더 이상 충분하지 않습니다.</a:t>
            </a:r>
          </a:p>
        </p:txBody>
      </p:sp>
      <p:sp>
        <p:nvSpPr>
          <p:cNvPr id="4" name="card-3-emphasis">
            <a:extLst xmlns:a="http://schemas.openxmlformats.org/drawingml/2006/main">
              <a:ext uri="{FF2B5EF4-FFF2-40B4-BE49-F238E27FC236}">
                <a16:creationId xmlns:a16="http://schemas.microsoft.com/office/drawing/2014/main" id="{8B4DDAE9-1FA5-438A-9D3D-33B51AB0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0"/>
            <a:ext cx="891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고객이 원하는 건 결과물 한 장이 아니라,</a:t>
            </a:r>
            <a:endParaRPr sz="2325" b="1" u="sng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그다음 작업까지 이어지는 흐름입니다.</a:t>
            </a:r>
          </a:p>
        </p:txBody>
      </p:sp>
    </p:spTree>
    <p:extLst>
      <p:ext uri="{BB962C8B-B14F-4D97-AF65-F5344CB8AC3E}">
        <p14:creationId xmlns:p14="http://schemas.microsoft.com/office/powerpoint/2010/main" val="1664750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f111fdb4a4866"/>
          <a:srcRect xmlns:a="http://schemas.openxmlformats.org/drawingml/2006/main" l="6731" t="0" r="67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6686550"/>
          </a:xfrm>
          <a:prstGeom xmlns:a="http://schemas.openxmlformats.org/drawingml/2006/main" prst="rect">
            <a:avLst/>
          </a:prstGeom>
        </p:spPr>
      </p:pic>
      <p:sp>
        <p:nvSpPr>
          <p:cNvPr id="2" name="card-5-headline">
            <a:extLst xmlns:a="http://schemas.openxmlformats.org/drawingml/2006/main">
              <a:ext uri="{FF2B5EF4-FFF2-40B4-BE49-F238E27FC236}">
                <a16:creationId xmlns:a16="http://schemas.microsoft.com/office/drawing/2014/main" id="{5821325C-0C03-4EC6-AC30-A7F3ED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9950"/>
            <a:ext cx="8915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3. Canva는 AI 기능 하나를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붙이지 않았습니다.</a:t>
            </a:r>
          </a:p>
        </p:txBody>
      </p:sp>
      <p:sp>
        <p:nvSpPr>
          <p:cNvPr id="3" name="card-5-body">
            <a:extLst xmlns:a="http://schemas.openxmlformats.org/drawingml/2006/main">
              <a:ext uri="{FF2B5EF4-FFF2-40B4-BE49-F238E27FC236}">
                <a16:creationId xmlns:a16="http://schemas.microsoft.com/office/drawing/2014/main" id="{FC6BDEDA-64B7-4A11-901F-5D548FA5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29725"/>
            <a:ext cx="3396343" cy="2967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아이디어를 꺼내고,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자료를 찾고,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디자인을 만들고,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브랜드를 입히고,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여러 채널에 게시하는 과정까지</a:t>
            </a:r>
          </a:p>
        </p:txBody>
      </p:sp>
      <p:sp>
        <p:nvSpPr>
          <p:cNvPr id="4" name="card-5-emphasis">
            <a:extLst xmlns:a="http://schemas.openxmlformats.org/drawingml/2006/main">
              <a:ext uri="{FF2B5EF4-FFF2-40B4-BE49-F238E27FC236}">
                <a16:creationId xmlns:a16="http://schemas.microsoft.com/office/drawing/2014/main" id="{F7D01021-3989-4DA6-95BA-29A639EF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515" y="10180863"/>
            <a:ext cx="3200398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하나의 흐름으로 묶었습니다.</a:t>
            </a:r>
            <a:endParaRPr sz="2325" b="1" u="sng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803977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ec48a8cf94128"/>
          <a:srcRect xmlns:a="http://schemas.openxmlformats.org/drawingml/2006/main" l="6731" t="0" r="67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0287000" cy="6686550"/>
          </a:xfrm>
          <a:prstGeom xmlns:a="http://schemas.openxmlformats.org/drawingml/2006/main" prst="rect">
            <a:avLst/>
          </a:prstGeom>
        </p:spPr>
      </p:pic>
      <p:sp>
        <p:nvSpPr>
          <p:cNvPr id="2" name="card-6-headline">
            <a:extLst xmlns:a="http://schemas.openxmlformats.org/drawingml/2006/main">
              <a:ext uri="{FF2B5EF4-FFF2-40B4-BE49-F238E27FC236}">
                <a16:creationId xmlns:a16="http://schemas.microsoft.com/office/drawing/2014/main" id="{D7177D7E-ABA7-429B-A86A-C847B46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9950"/>
            <a:ext cx="8915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4. Canva AI 2.0은 결과물을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 장으로 끝내지 않습니다.</a:t>
            </a:r>
          </a:p>
        </p:txBody>
      </p:sp>
      <p:sp>
        <p:nvSpPr>
          <p:cNvPr id="3" name="card-6-body">
            <a:extLst xmlns:a="http://schemas.openxmlformats.org/drawingml/2006/main">
              <a:ext uri="{FF2B5EF4-FFF2-40B4-BE49-F238E27FC236}">
                <a16:creationId xmlns:a16="http://schemas.microsoft.com/office/drawing/2014/main" id="{25989B22-54A3-4118-A0A8-B4FB95AB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0"/>
            <a:ext cx="8915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한 번의 프롬프트로 만든 디자인도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레이어별로 다시 고칠 수 있습니다.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3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사진만 바꾸고,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제목만 고치고,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브랜드 스타일만 다시 입힐 수 있습니다.</a:t>
            </a:r>
          </a:p>
        </p:txBody>
      </p:sp>
      <p:sp>
        <p:nvSpPr>
          <p:cNvPr id="4" name="card-6-emphasis">
            <a:extLst xmlns:a="http://schemas.openxmlformats.org/drawingml/2006/main">
              <a:ext uri="{FF2B5EF4-FFF2-40B4-BE49-F238E27FC236}">
                <a16:creationId xmlns:a16="http://schemas.microsoft.com/office/drawing/2014/main" id="{BB2F29EB-EA0D-4F48-9F57-691BF1E6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0"/>
            <a:ext cx="891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AI가 만든 결과물인데도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사용자의 통제권은 남아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19364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rd-7-headline">
            <a:extLst xmlns:a="http://schemas.openxmlformats.org/drawingml/2006/main">
              <a:ext uri="{FF2B5EF4-FFF2-40B4-BE49-F238E27FC236}">
                <a16:creationId xmlns:a16="http://schemas.microsoft.com/office/drawing/2014/main" id="{641958CB-F34B-4E8A-A613-1147CFAE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915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5. Canva의 진짜 경쟁력은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작업 흐름입니다.</a:t>
            </a:r>
          </a:p>
        </p:txBody>
      </p:sp>
      <p:sp>
        <p:nvSpPr>
          <p:cNvPr id="2" name="card-7-body">
            <a:extLst xmlns:a="http://schemas.openxmlformats.org/drawingml/2006/main">
              <a:ext uri="{FF2B5EF4-FFF2-40B4-BE49-F238E27FC236}">
                <a16:creationId xmlns:a16="http://schemas.microsoft.com/office/drawing/2014/main" id="{9F7BEF62-EBC2-4CD6-B217-3DC6548B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89154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3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그래서 Canva의 경쟁력은</a:t>
            </a:r>
            <a:endParaRPr sz="2325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이미지를 잘 만드는 AI가 아닙니다.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3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/>
            </a:r>
            <a:endParaRPr sz="2325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생각 → 디자인 → 협업 → 게시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3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사용자가 실제로 일하는 순서를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1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제품 안에 연결한 것입니다.</a:t>
            </a:r>
          </a:p>
        </p:txBody>
      </p:sp>
      <p:sp>
        <p:nvSpPr>
          <p:cNvPr id="3" name="card-7-emphasis">
            <a:extLst xmlns:a="http://schemas.openxmlformats.org/drawingml/2006/main">
              <a:ext uri="{FF2B5EF4-FFF2-40B4-BE49-F238E27FC236}">
                <a16:creationId xmlns:a16="http://schemas.microsoft.com/office/drawing/2014/main" id="{F6FFF9FC-CEC0-45A3-94F1-7E47B6AE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891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Canva가 공개한 2025년 기준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월간 사용자 2억 6천만 명 · 매출 35억 달러</a:t>
            </a:r>
          </a:p>
        </p:txBody>
      </p:sp>
      <p:pic>
        <p:nvPicPr>
          <p:cNvPr id="10" name="그림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382fcf81748c3"/>
          <a:srcRect xmlns:a="http://schemas.openxmlformats.org/drawingml/2006/main" l="4116" t="0" r="4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0287000" cy="6305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69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rd-4-headline">
            <a:extLst xmlns:a="http://schemas.openxmlformats.org/drawingml/2006/main">
              <a:ext uri="{FF2B5EF4-FFF2-40B4-BE49-F238E27FC236}">
                <a16:creationId xmlns:a16="http://schemas.microsoft.com/office/drawing/2014/main" id="{DB81C811-2A10-40A2-ADAA-E0B372B2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915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6. 사업계획서로 읽으면,</a:t>
            </a:r>
            <a:endParaRPr sz="4650" b="1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기능 설명만 남기면 안 됩니다.</a:t>
            </a:r>
          </a:p>
        </p:txBody>
      </p:sp>
      <p:sp>
        <p:nvSpPr>
          <p:cNvPr id="2" name="card-4-body">
            <a:extLst xmlns:a="http://schemas.openxmlformats.org/drawingml/2006/main">
              <a:ext uri="{FF2B5EF4-FFF2-40B4-BE49-F238E27FC236}">
                <a16:creationId xmlns:a16="http://schemas.microsoft.com/office/drawing/2014/main" id="{906CD17A-F24F-469A-8E61-9D6AD4C8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89154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이 사례를 사업계획서로 옮기면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핵심은 기능 설명이 아닙니다.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3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시장 변화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생성형 AI로 제작 비용이 낮아졌다.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32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고객 문제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수정·브랜드 적용·협업·게시가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8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여전히 번거롭다.</a:t>
            </a:r>
          </a:p>
        </p:txBody>
      </p:sp>
      <p:sp>
        <p:nvSpPr>
          <p:cNvPr id="3" name="card-4-emphasis">
            <a:extLst xmlns:a="http://schemas.openxmlformats.org/drawingml/2006/main">
              <a:ext uri="{FF2B5EF4-FFF2-40B4-BE49-F238E27FC236}">
                <a16:creationId xmlns:a16="http://schemas.microsoft.com/office/drawing/2014/main" id="{0D30C552-CBAD-48A5-B7CE-739FF3FE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15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해결책: 아이디어부터 결과물 배포까지 연결</a:t>
            </a:r>
            <a:endParaRPr sz="2325" b="1" u="sng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차별화: 편집 가능성·브랜드 맥락·팀의 작업 흐름</a:t>
            </a:r>
          </a:p>
        </p:txBody>
      </p:sp>
      <p:pic>
        <p:nvPicPr>
          <p:cNvPr id="10" name="그림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2d575cc7f4264"/>
          <a:srcRect xmlns:a="http://schemas.openxmlformats.org/drawingml/2006/main" l="11764" t="0" r="11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553200"/>
            <a:ext cx="10287000" cy="6305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1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ard-8-headline">
            <a:extLst xmlns:a="http://schemas.openxmlformats.org/drawingml/2006/main">
              <a:ext uri="{FF2B5EF4-FFF2-40B4-BE49-F238E27FC236}">
                <a16:creationId xmlns:a16="http://schemas.microsoft.com/office/drawing/2014/main" id="{A0691EE4-2B29-43D5-A54D-70B492E2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6872"/>
            <a:ext cx="819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7. AI 시대에 살아남은 회사는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고객의 일을 다시 설계합니다.</a:t>
            </a:r>
          </a:p>
        </p:txBody>
      </p:sp>
      <p:sp>
        <p:nvSpPr>
          <p:cNvPr id="2" name="card-8-body">
            <a:extLst xmlns:a="http://schemas.openxmlformats.org/drawingml/2006/main">
              <a:ext uri="{FF2B5EF4-FFF2-40B4-BE49-F238E27FC236}">
                <a16:creationId xmlns:a16="http://schemas.microsoft.com/office/drawing/2014/main" id="{727BBEEC-669A-41FF-BEA1-CDBF678D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5747"/>
            <a:ext cx="8191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9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AI 기능을 붙인 회사가 아니라,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9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고객이 일하는 방식을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9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다시 설계한 회사입니다.</a:t>
            </a:r>
            <a:endParaRPr sz="285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 xmlns:a="http://schemas.openxmlformats.org/drawingml/2006/main">
            <a:pPr algn="ctr">
              <a:lnSpc>
                <a:spcPct val="145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8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/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9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사업계획서도 같습니다.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9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무엇을 만들 것인가보다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9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고객의 일이 어떻게 달라지는가를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19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보여줘야 합니다.</a:t>
            </a:r>
          </a:p>
        </p:txBody>
      </p:sp>
      <p:sp>
        <p:nvSpPr>
          <p:cNvPr id="3" name="card-8-emphasis">
            <a:extLst xmlns:a="http://schemas.openxmlformats.org/drawingml/2006/main">
              <a:ext uri="{FF2B5EF4-FFF2-40B4-BE49-F238E27FC236}">
                <a16:creationId xmlns:a16="http://schemas.microsoft.com/office/drawing/2014/main" id="{F37DB4DC-08F8-44C2-AEAE-C4408C5A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58250"/>
            <a:ext cx="819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2850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100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사업계획서는 독스헌트에서.</a:t>
            </a:r>
          </a:p>
        </p:txBody>
      </p:sp>
      <p:pic>
        <p:nvPicPr>
          <p:cNvPr id="9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d763a3d5745fd"/>
          <a:stretch xmlns:a="http://schemas.openxmlformats.org/drawingml/2006/main"/>
        </p:blipFill>
        <p:spPr>
          <a:xfrm xmlns:a="http://schemas.openxmlformats.org/drawingml/2006/main">
            <a:off x="4097357" y="9990364"/>
            <a:ext cx="2092286" cy="52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98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2026-08-23T18:29:13.0210000Z</dcterms:created>
  <dcterms:modified xsi:type="dcterms:W3CDTF">2026-08-23T18:29:13.0210000Z</dcterms:modified>
</coreProperties>
</file>