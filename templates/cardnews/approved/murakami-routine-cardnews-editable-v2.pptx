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0287000" cy="1285875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8"/>
    <p:restoredTop sz="94639"/>
  </p:normalViewPr>
  <p:slideViewPr>
    <p:cSldViewPr snapToGrid="0">
      <p:cViewPr varScale="1">
        <p:scale>
          <a:sx n="79" d="100"/>
          <a:sy n="79" d="100"/>
        </p:scale>
        <p:origin x="32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https://www.tjapan.jp/entertainment/17498580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https://www.hmhco.com/blog/haruki-murakami-before-norwegian-wood</a:t>
            </a:r>
          </a:p>
          <a:p>
            <a:r>
              <a:t>https://go.zvuk.com/stati/lyubov-dlinoyu-v-zhizn-kak-v-prozu-kharuki-murakami-pronik-dzhaz.htm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https://www.hmhco.com/blog/haruki-murakami-before-norwegian-wood</a:t>
            </a:r>
          </a:p>
          <a:p>
            <a:r>
              <a:t>https://in.pinterest.com/pin/662944007688455192/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https://www.hmhco.com/blog/haruki-murakami-before-norwegian-wood</a:t>
            </a:r>
          </a:p>
          <a:p>
            <a:r>
              <a:t>https://courrier.jp/news/archives/41204/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https://www.newyorker.com/magazine/2008/06/30/murakami-haruki-profile</a:t>
            </a:r>
          </a:p>
          <a:p>
            <a:r>
              <a:t>https://images.splitshire.com/full/A-Runner-Achieving-Goals-at-Sunrise_4k0J3.png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https://www.newyorker.com/magazine/2008/06/30/murakami-haruki-profile</a:t>
            </a:r>
          </a:p>
          <a:p>
            <a:r>
              <a:t>https://www.hket.com/article/1697432/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https://www.hmhco.com/blog/haruki-murakami-before-norwegian-wood</a:t>
            </a:r>
          </a:p>
          <a:p>
            <a:r>
              <a:t>https://kr.pinterest.com/pin/coffee-cocktails-and-jazz-at-kurasu-kissaten-manual-jakarta-in-2024--445926800621165368/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https://www.newyorker.com/magazine/2008/06/30/murakami-haruki-profile</a:t>
            </a:r>
          </a:p>
          <a:p>
            <a:r>
              <a:t>https://brutus.jp/tokyo_digdug/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https://www.newyorker.com/magazine/2008/06/30/murakami-haruki-profile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rcRect t="2830" b="2830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2" name="card-1-cover-fade">
            <a:extLst>
              <a:ext uri="{FF2B5EF4-FFF2-40B4-BE49-F238E27FC236}">
                <a16:creationId xmlns:a16="http://schemas.microsoft.com/office/drawing/2014/main" id="{C75AC82C-D683-41AF-83CB-F4630BB36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0287000" cy="12858750"/>
          </a:xfrm>
          <a:prstGeom prst="rect">
            <a:avLst/>
          </a:prstGeom>
          <a:gradFill>
            <a:gsLst>
              <a:gs pos="0">
                <a:srgbClr val="000000">
                  <a:alpha val="94951"/>
                </a:srgbClr>
              </a:gs>
              <a:gs pos="100000">
                <a:srgbClr val="000000">
                  <a:alpha val="0"/>
                </a:srgbClr>
              </a:gs>
            </a:gsLst>
            <a:lin ang="15600000" scaled="0"/>
          </a:gradFill>
          <a:ln w="0">
            <a:noFill/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card-1-headline">
            <a:extLst>
              <a:ext uri="{FF2B5EF4-FFF2-40B4-BE49-F238E27FC236}">
                <a16:creationId xmlns:a16="http://schemas.microsoft.com/office/drawing/2014/main" id="{D846466F-C61E-40C8-9F8D-254EDC2F1CEA}"/>
              </a:ext>
            </a:extLst>
          </p:cNvPr>
          <p:cNvSpPr>
            <a:spLocks noGrp="1"/>
          </p:cNvSpPr>
          <p:nvPr/>
        </p:nvSpPr>
        <p:spPr>
          <a:xfrm>
            <a:off x="622004" y="7777274"/>
            <a:ext cx="9436396" cy="2025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6000"/>
              </a:lnSpc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재즈바도</a:t>
            </a:r>
            <a:r>
              <a:rPr lang="en-US" altLang="ko-KR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소설도</a:t>
            </a:r>
            <a:endParaRPr lang="en-US" altLang="ko-KR" sz="8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96000"/>
              </a:lnSpc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하루키는 </a:t>
            </a:r>
            <a:endParaRPr lang="en-US" altLang="ko-KR" sz="80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96000"/>
              </a:lnSpc>
              <a:buNone/>
              <a:defRPr sz="6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8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하루치씩 했습니다</a:t>
            </a:r>
            <a:endParaRPr lang="ko-KR" altLang="en-US" sz="8800"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97357" y="11745684"/>
            <a:ext cx="2092286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81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-2-headline">
            <a:extLst>
              <a:ext uri="{FF2B5EF4-FFF2-40B4-BE49-F238E27FC236}">
                <a16:creationId xmlns:a16="http://schemas.microsoft.com/office/drawing/2014/main" id="{C60651FF-263A-4158-9F8A-9528FE60E3F3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1974년,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하루키는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아내와</a:t>
            </a:r>
            <a:endParaRPr sz="480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재즈바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‘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피터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캣’을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엽니다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" name="card-2-body">
            <a:extLst>
              <a:ext uri="{FF2B5EF4-FFF2-40B4-BE49-F238E27FC236}">
                <a16:creationId xmlns:a16="http://schemas.microsoft.com/office/drawing/2014/main" id="{5FFDB848-D0A5-4BF0-ABD9-E2ECD0C70825}"/>
              </a:ext>
            </a:extLst>
          </p:cNvPr>
          <p:cNvSpPr>
            <a:spLocks noGrp="1"/>
          </p:cNvSpPr>
          <p:nvPr/>
        </p:nvSpPr>
        <p:spPr>
          <a:xfrm>
            <a:off x="685799" y="2676525"/>
            <a:ext cx="9053623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ko-KR" sz="2325" dirty="0">
                <a:solidFill>
                  <a:srgbClr val="222222"/>
                </a:solidFill>
                <a:latin typeface="Pretendard"/>
              </a:rPr>
              <a:t>낮에는 커피를 끓이고 샌드위치를 만들</a:t>
            </a:r>
            <a:r>
              <a:rPr lang="ko-KR" altLang="en-US" sz="2325" dirty="0">
                <a:solidFill>
                  <a:srgbClr val="222222"/>
                </a:solidFill>
                <a:latin typeface="Pretendard"/>
              </a:rPr>
              <a:t>고</a:t>
            </a:r>
            <a:r>
              <a:rPr lang="ko-KR" altLang="ko-KR" sz="2325" dirty="0">
                <a:solidFill>
                  <a:srgbClr val="222222"/>
                </a:solidFill>
                <a:latin typeface="Pretendard"/>
              </a:rPr>
              <a:t>, 밤에는 술과 안주를 팔았습니다.</a:t>
            </a:r>
            <a:endParaRPr lang="en-US" altLang="ko-KR" sz="2325" dirty="0">
              <a:solidFill>
                <a:srgbClr val="222222"/>
              </a:solidFill>
              <a:latin typeface="Pretendard"/>
            </a:endParaRPr>
          </a:p>
          <a:p>
            <a:pPr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빚을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갚아야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하는데 돈은 벌리지 않고</a:t>
            </a:r>
            <a:r>
              <a:rPr lang="en-US" altLang="ko-KR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</a:t>
            </a:r>
            <a:endParaRPr sz="2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설</a:t>
            </a:r>
            <a:r>
              <a:rPr lang="ko-KR" altLang="ko-KR" sz="2400" dirty="0">
                <a:solidFill>
                  <a:srgbClr val="222222"/>
                </a:solidFill>
                <a:latin typeface="Pretendard"/>
              </a:rPr>
              <a:t>거지, 바닥 청소, 재즈 뮤지션 섭외, </a:t>
            </a:r>
            <a:r>
              <a:rPr lang="ko-KR" altLang="en-US" sz="2400" dirty="0">
                <a:solidFill>
                  <a:srgbClr val="222222"/>
                </a:solidFill>
                <a:latin typeface="Pretendard"/>
              </a:rPr>
              <a:t>취객 관리</a:t>
            </a:r>
            <a:r>
              <a:rPr lang="ko-KR" altLang="ko-KR" sz="2400" dirty="0">
                <a:solidFill>
                  <a:srgbClr val="222222"/>
                </a:solidFill>
                <a:latin typeface="Pretendard"/>
              </a:rPr>
              <a:t>까지 </a:t>
            </a:r>
            <a:br>
              <a:rPr lang="en-US" altLang="ko-KR" sz="2400" dirty="0">
                <a:solidFill>
                  <a:srgbClr val="222222"/>
                </a:solidFill>
                <a:latin typeface="Pretendard"/>
              </a:rPr>
            </a:br>
            <a:br>
              <a:rPr lang="en-US" altLang="ko-KR" sz="2400" dirty="0">
                <a:solidFill>
                  <a:srgbClr val="222222"/>
                </a:solidFill>
                <a:latin typeface="Pretendard"/>
              </a:rPr>
            </a:br>
            <a:r>
              <a:rPr lang="ko-KR" altLang="ko-KR" sz="2400" dirty="0">
                <a:solidFill>
                  <a:srgbClr val="222222"/>
                </a:solidFill>
                <a:latin typeface="Pretendard"/>
              </a:rPr>
              <a:t>모든</a:t>
            </a:r>
            <a:r>
              <a:rPr lang="ko-KR" altLang="en-US" sz="2400" dirty="0">
                <a:solidFill>
                  <a:srgbClr val="222222"/>
                </a:solidFill>
                <a:latin typeface="Pretendard"/>
              </a:rPr>
              <a:t> 일을</a:t>
            </a:r>
            <a:r>
              <a:rPr lang="ko-KR" altLang="ko-KR" sz="2400" dirty="0">
                <a:solidFill>
                  <a:srgbClr val="222222"/>
                </a:solidFill>
                <a:latin typeface="Pretendard"/>
              </a:rPr>
              <a:t> 아내와 단둘이 직접 했습니다.</a:t>
            </a:r>
            <a:endParaRPr sz="2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card-2-emphasis">
            <a:extLst>
              <a:ext uri="{FF2B5EF4-FFF2-40B4-BE49-F238E27FC236}">
                <a16:creationId xmlns:a16="http://schemas.microsoft.com/office/drawing/2014/main" id="{8FE92962-EE0B-46F9-A999-B4641739EB7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피터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캣은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7년 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동안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이어졌습니다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11" name="그림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19050000" y="-19050000"/>
            <a:ext cx="9525" cy="95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rcRect t="9955" b="9955"/>
          <a:stretch>
            <a:fillRect/>
          </a:stretch>
        </p:blipFill>
        <p:spPr>
          <a:xfrm>
            <a:off x="0" y="6553200"/>
            <a:ext cx="102870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4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rcRect l="1648" r="1648"/>
          <a:stretch>
            <a:fillRect/>
          </a:stretch>
        </p:blipFill>
        <p:spPr>
          <a:xfrm>
            <a:off x="0" y="0"/>
            <a:ext cx="10287000" cy="6686550"/>
          </a:xfrm>
          <a:prstGeom prst="rect">
            <a:avLst/>
          </a:prstGeom>
        </p:spPr>
      </p:pic>
      <p:sp>
        <p:nvSpPr>
          <p:cNvPr id="2" name="card-3-headline">
            <a:extLst>
              <a:ext uri="{FF2B5EF4-FFF2-40B4-BE49-F238E27FC236}">
                <a16:creationId xmlns:a16="http://schemas.microsoft.com/office/drawing/2014/main" id="{68BB3130-EBAC-42ED-8630-3D7D450B3D94}"/>
              </a:ext>
            </a:extLst>
          </p:cNvPr>
          <p:cNvSpPr>
            <a:spLocks noGrp="1"/>
          </p:cNvSpPr>
          <p:nvPr/>
        </p:nvSpPr>
        <p:spPr>
          <a:xfrm>
            <a:off x="685800" y="723900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29살의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하루키는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야구를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보다가</a:t>
            </a:r>
            <a:endParaRPr sz="480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소설을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써보기로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" name="card-3-body">
            <a:extLst>
              <a:ext uri="{FF2B5EF4-FFF2-40B4-BE49-F238E27FC236}">
                <a16:creationId xmlns:a16="http://schemas.microsoft.com/office/drawing/2014/main" id="{8B5E91AC-4774-4571-A65B-D64537D1C571}"/>
              </a:ext>
            </a:extLst>
          </p:cNvPr>
          <p:cNvSpPr>
            <a:spLocks noGrp="1"/>
          </p:cNvSpPr>
          <p:nvPr/>
        </p:nvSpPr>
        <p:spPr>
          <a:xfrm>
            <a:off x="685800" y="9096375"/>
            <a:ext cx="81915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뒤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가게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일을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마친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밤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,</a:t>
            </a:r>
            <a:endParaRPr sz="2325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주방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테이블에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앉아</a:t>
            </a:r>
            <a:endParaRPr sz="2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매일 </a:t>
            </a:r>
            <a:r>
              <a:rPr lang="en-US" altLang="ko-KR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1~2</a:t>
            </a:r>
            <a:r>
              <a:rPr lang="ko-KR" altLang="en-US"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시간씩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조금씩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글을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썼습니다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  <a:endParaRPr sz="2325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325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작가가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될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준비가</a:t>
            </a:r>
            <a:endParaRPr sz="2400" dirty="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되어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있던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건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400" dirty="0" err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아니었습니다</a:t>
            </a:r>
            <a:r>
              <a:rPr sz="240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card-3-emphasis">
            <a:extLst>
              <a:ext uri="{FF2B5EF4-FFF2-40B4-BE49-F238E27FC236}">
                <a16:creationId xmlns:a16="http://schemas.microsoft.com/office/drawing/2014/main" id="{8B4DDAE9-1FA5-438A-9D3D-33B51AB0AA92}"/>
              </a:ext>
            </a:extLst>
          </p:cNvPr>
          <p:cNvSpPr>
            <a:spLocks noGrp="1"/>
          </p:cNvSpPr>
          <p:nvPr/>
        </p:nvSpPr>
        <p:spPr>
          <a:xfrm>
            <a:off x="685800" y="11525250"/>
            <a:ext cx="819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그냥, 다음 날에도 썼습니다.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66475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rcRect t="1230" b="1230"/>
          <a:stretch>
            <a:fillRect/>
          </a:stretch>
        </p:blipFill>
        <p:spPr>
          <a:xfrm>
            <a:off x="0" y="0"/>
            <a:ext cx="10287000" cy="6686550"/>
          </a:xfrm>
          <a:prstGeom prst="rect">
            <a:avLst/>
          </a:prstGeom>
        </p:spPr>
      </p:pic>
      <p:sp>
        <p:nvSpPr>
          <p:cNvPr id="2" name="card-5-headline">
            <a:extLst>
              <a:ext uri="{FF2B5EF4-FFF2-40B4-BE49-F238E27FC236}">
                <a16:creationId xmlns:a16="http://schemas.microsoft.com/office/drawing/2014/main" id="{5821325C-0C03-4EC6-AC30-A7F3ED4DF04C}"/>
              </a:ext>
            </a:extLst>
          </p:cNvPr>
          <p:cNvSpPr>
            <a:spLocks noGrp="1"/>
          </p:cNvSpPr>
          <p:nvPr/>
        </p:nvSpPr>
        <p:spPr>
          <a:xfrm>
            <a:off x="685800" y="7239000"/>
            <a:ext cx="8382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가게와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둘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‘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하루치’씩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했습니다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" name="card-5-body">
            <a:extLst>
              <a:ext uri="{FF2B5EF4-FFF2-40B4-BE49-F238E27FC236}">
                <a16:creationId xmlns:a16="http://schemas.microsoft.com/office/drawing/2014/main" id="{FC6BDEDA-64B7-4A11-901F-5D548FA50E56}"/>
              </a:ext>
            </a:extLst>
          </p:cNvPr>
          <p:cNvSpPr>
            <a:spLocks noGrp="1"/>
          </p:cNvSpPr>
          <p:nvPr/>
        </p:nvSpPr>
        <p:spPr>
          <a:xfrm>
            <a:off x="685800" y="9191625"/>
            <a:ext cx="4857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가게에는 영업시간이 있었고,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글에는 쓰는 시간이 있었습니다.</a:t>
            </a: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하루가 잘돼도, 안 풀려도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다음 날 다시 문을 열고</a:t>
            </a:r>
          </a:p>
          <a:p>
            <a:pPr algn="l">
              <a:lnSpc>
                <a:spcPct val="100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다음 문장을 썼습니다.</a:t>
            </a:r>
          </a:p>
        </p:txBody>
      </p:sp>
      <p:sp>
        <p:nvSpPr>
          <p:cNvPr id="4" name="card-5-emphasis">
            <a:extLst>
              <a:ext uri="{FF2B5EF4-FFF2-40B4-BE49-F238E27FC236}">
                <a16:creationId xmlns:a16="http://schemas.microsoft.com/office/drawing/2014/main" id="{F7D01021-3989-4DA6-95BA-29A639EF01EF}"/>
              </a:ext>
            </a:extLst>
          </p:cNvPr>
          <p:cNvSpPr>
            <a:spLocks noGrp="1"/>
          </p:cNvSpPr>
          <p:nvPr/>
        </p:nvSpPr>
        <p:spPr>
          <a:xfrm>
            <a:off x="6000750" y="9810750"/>
            <a:ext cx="3333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 번의 영감보다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반복이 먼저였습니다.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0397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-7-headline">
            <a:extLst>
              <a:ext uri="{FF2B5EF4-FFF2-40B4-BE49-F238E27FC236}">
                <a16:creationId xmlns:a16="http://schemas.microsoft.com/office/drawing/2014/main" id="{641958CB-F34B-4E8A-A613-1147CFAE726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소설가가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뒤</a:t>
            </a:r>
            <a:endParaRPr sz="480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생활은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더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단순해졌습니다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" name="card-7-body">
            <a:extLst>
              <a:ext uri="{FF2B5EF4-FFF2-40B4-BE49-F238E27FC236}">
                <a16:creationId xmlns:a16="http://schemas.microsoft.com/office/drawing/2014/main" id="{9F7BEF62-EBC2-4CD6-B217-3DC6548B970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8191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장편을 쓸 때 그는</a:t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새벽 4시에 일어나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다섯~여섯 시간 글을 씁니다.</a:t>
            </a: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325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 뒤에는 달리거나 수영하고,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일찍 잠듭니다.</a:t>
            </a:r>
          </a:p>
        </p:txBody>
      </p:sp>
      <p:sp>
        <p:nvSpPr>
          <p:cNvPr id="3" name="card-7-emphasis">
            <a:extLst>
              <a:ext uri="{FF2B5EF4-FFF2-40B4-BE49-F238E27FC236}">
                <a16:creationId xmlns:a16="http://schemas.microsoft.com/office/drawing/2014/main" id="{F6FFF9FC-CEC0-45A3-94F1-7E47B6AE3E3F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매일 거의 같은 하루를</a:t>
            </a:r>
          </a:p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반복했습니다.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rcRect t="19352" b="19352"/>
          <a:stretch>
            <a:fillRect/>
          </a:stretch>
        </p:blipFill>
        <p:spPr>
          <a:xfrm>
            <a:off x="0" y="6553200"/>
            <a:ext cx="102870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6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rcRect t="6835" b="6835"/>
          <a:stretch>
            <a:fillRect/>
          </a:stretch>
        </p:blipFill>
        <p:spPr>
          <a:xfrm>
            <a:off x="0" y="0"/>
            <a:ext cx="10287000" cy="6686550"/>
          </a:xfrm>
          <a:prstGeom prst="rect">
            <a:avLst/>
          </a:prstGeom>
        </p:spPr>
      </p:pic>
      <p:sp>
        <p:nvSpPr>
          <p:cNvPr id="2" name="card-6-headline">
            <a:extLst>
              <a:ext uri="{FF2B5EF4-FFF2-40B4-BE49-F238E27FC236}">
                <a16:creationId xmlns:a16="http://schemas.microsoft.com/office/drawing/2014/main" id="{D7177D7E-ABA7-429B-A86A-C847B4628CDC}"/>
              </a:ext>
            </a:extLst>
          </p:cNvPr>
          <p:cNvSpPr>
            <a:spLocks noGrp="1"/>
          </p:cNvSpPr>
          <p:nvPr/>
        </p:nvSpPr>
        <p:spPr>
          <a:xfrm>
            <a:off x="685800" y="723900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하루키가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지킨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건</a:t>
            </a:r>
            <a:endParaRPr sz="480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재능의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순간이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아니었습니다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" name="card-6-body">
            <a:extLst>
              <a:ext uri="{FF2B5EF4-FFF2-40B4-BE49-F238E27FC236}">
                <a16:creationId xmlns:a16="http://schemas.microsoft.com/office/drawing/2014/main" id="{25989B22-54A3-4118-A0A8-B4FB95ABBCC2}"/>
              </a:ext>
            </a:extLst>
          </p:cNvPr>
          <p:cNvSpPr>
            <a:spLocks noGrp="1"/>
          </p:cNvSpPr>
          <p:nvPr/>
        </p:nvSpPr>
        <p:spPr>
          <a:xfrm>
            <a:off x="685800" y="9096375"/>
            <a:ext cx="81915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책 한 권을 쓰는 일보다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다음 날에도 다시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책상에 앉는 일.</a:t>
            </a: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작가가 되는 일보다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작가로 계속 살아가는 일.</a:t>
            </a:r>
          </a:p>
        </p:txBody>
      </p:sp>
      <p:sp>
        <p:nvSpPr>
          <p:cNvPr id="4" name="card-6-emphasis">
            <a:extLst>
              <a:ext uri="{FF2B5EF4-FFF2-40B4-BE49-F238E27FC236}">
                <a16:creationId xmlns:a16="http://schemas.microsoft.com/office/drawing/2014/main" id="{BB2F29EB-EA0D-4F48-9F57-691BF1E6A373}"/>
              </a:ext>
            </a:extLst>
          </p:cNvPr>
          <p:cNvSpPr>
            <a:spLocks noGrp="1"/>
          </p:cNvSpPr>
          <p:nvPr/>
        </p:nvSpPr>
        <p:spPr>
          <a:xfrm>
            <a:off x="685800" y="11572875"/>
            <a:ext cx="8191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글쓰기는</a:t>
            </a:r>
          </a:p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매일 하는 일이었습니다.</a:t>
            </a:r>
          </a:p>
        </p:txBody>
      </p:sp>
    </p:spTree>
    <p:extLst>
      <p:ext uri="{BB962C8B-B14F-4D97-AF65-F5344CB8AC3E}">
        <p14:creationId xmlns:p14="http://schemas.microsoft.com/office/powerpoint/2010/main" val="2019364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-4-headline">
            <a:extLst>
              <a:ext uri="{FF2B5EF4-FFF2-40B4-BE49-F238E27FC236}">
                <a16:creationId xmlns:a16="http://schemas.microsoft.com/office/drawing/2014/main" id="{DB81C811-2A10-40A2-ADAA-E0B372B23123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피터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캣과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소설은</a:t>
            </a:r>
            <a:endParaRPr sz="465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방식으로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이어졌습니다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" name="card-4-body">
            <a:extLst>
              <a:ext uri="{FF2B5EF4-FFF2-40B4-BE49-F238E27FC236}">
                <a16:creationId xmlns:a16="http://schemas.microsoft.com/office/drawing/2014/main" id="{906CD17A-F24F-469A-8E61-9D6AD4C8874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8191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가게는 매일 열어야 했고,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소설은 매일 써야 했습니다.</a:t>
            </a: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피터 캣은 7년 동안 이어졌고,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하루키는 수십 년째 소설을 씁니다.</a:t>
            </a:r>
          </a:p>
        </p:txBody>
      </p:sp>
      <p:sp>
        <p:nvSpPr>
          <p:cNvPr id="3" name="card-4-emphasis">
            <a:extLst>
              <a:ext uri="{FF2B5EF4-FFF2-40B4-BE49-F238E27FC236}">
                <a16:creationId xmlns:a16="http://schemas.microsoft.com/office/drawing/2014/main" id="{0D30C552-CBAD-48A5-B7CE-739FF3FED978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8191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쌓인 건 특별한 하루가 아니라</a:t>
            </a:r>
            <a:endParaRPr sz="2325" b="1" u="sng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평범한 날들이었습니다.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rcRect t="8228" b="8228"/>
          <a:stretch>
            <a:fillRect/>
          </a:stretch>
        </p:blipFill>
        <p:spPr>
          <a:xfrm>
            <a:off x="0" y="6553200"/>
            <a:ext cx="102870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rd-2-headline">
            <a:extLst>
              <a:ext uri="{FF2B5EF4-FFF2-40B4-BE49-F238E27FC236}">
                <a16:creationId xmlns:a16="http://schemas.microsoft.com/office/drawing/2014/main" id="{C60651FF-263A-4158-9F8A-9528FE60E3F3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57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꾸준함은</a:t>
            </a:r>
            <a:endParaRPr sz="4800" b="1" dirty="0">
              <a:solidFill>
                <a:srgbClr val="111111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거창한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의지가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아닙니다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" name="card-2-body">
            <a:extLst>
              <a:ext uri="{FF2B5EF4-FFF2-40B4-BE49-F238E27FC236}">
                <a16:creationId xmlns:a16="http://schemas.microsoft.com/office/drawing/2014/main" id="{5FFDB848-D0A5-4BF0-ABD9-E2ECD0C70825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819150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매일 대단한 동기가 있어야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계속할 수 있는 건 아닙니다.</a:t>
            </a:r>
          </a:p>
          <a:p>
            <a:pPr algn="l">
              <a:lnSpc>
                <a:spcPct val="138000"/>
              </a:lnSpc>
              <a:buNone/>
              <a:defRPr sz="2325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오늘 할 몫이 있고,</a:t>
            </a:r>
          </a:p>
          <a:p>
            <a:pPr algn="l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그걸 그냥 해내는 것.</a:t>
            </a:r>
          </a:p>
        </p:txBody>
      </p:sp>
      <p:sp>
        <p:nvSpPr>
          <p:cNvPr id="3" name="card-2-emphasis">
            <a:extLst>
              <a:ext uri="{FF2B5EF4-FFF2-40B4-BE49-F238E27FC236}">
                <a16:creationId xmlns:a16="http://schemas.microsoft.com/office/drawing/2014/main" id="{8FE92962-EE0B-46F9-A999-B4641739EB7B}"/>
              </a:ext>
            </a:extLst>
          </p:cNvPr>
          <p:cNvSpPr>
            <a:spLocks noGrp="1"/>
          </p:cNvSpPr>
          <p:nvPr/>
        </p:nvSpPr>
        <p:spPr>
          <a:xfrm>
            <a:off x="685800" y="5191125"/>
            <a:ext cx="8191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하루키는 그 ‘그냥’을</a:t>
            </a:r>
          </a:p>
          <a:p>
            <a:pPr algn="l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아주 오래 했습니다.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rcRect t="3999" b="3999"/>
          <a:stretch>
            <a:fillRect/>
          </a:stretch>
        </p:blipFill>
        <p:spPr>
          <a:xfrm>
            <a:off x="0" y="6553200"/>
            <a:ext cx="1028700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41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-8-headline">
            <a:extLst>
              <a:ext uri="{FF2B5EF4-FFF2-40B4-BE49-F238E27FC236}">
                <a16:creationId xmlns:a16="http://schemas.microsoft.com/office/drawing/2014/main" id="{A0691EE4-2B29-43D5-A54D-70B492E284C1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84582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특별해서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오래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게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96000"/>
              </a:lnSpc>
              <a:buNone/>
              <a:defRPr sz="48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오래</a:t>
            </a:r>
            <a:r>
              <a:rPr lang="ko-KR" altLang="en-US"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해서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자기만의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것이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4800" b="1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됐습니다</a:t>
            </a:r>
            <a:r>
              <a:rPr sz="4800" b="1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2" name="card-8-body">
            <a:extLst>
              <a:ext uri="{FF2B5EF4-FFF2-40B4-BE49-F238E27FC236}">
                <a16:creationId xmlns:a16="http://schemas.microsoft.com/office/drawing/2014/main" id="{727BBEEC-669A-41FF-BEA1-CDBF678D3CCD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8001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창업도 마찬가지입니다.</a:t>
            </a:r>
          </a:p>
          <a:p>
            <a:pPr algn="ctr">
              <a:lnSpc>
                <a:spcPct val="145000"/>
              </a:lnSpc>
              <a:buNone/>
              <a:defRPr sz="285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endParaRPr sz="240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아이디어는 어느 날 시작되지만,</a:t>
            </a:r>
            <a:endParaRPr sz="2850">
              <a:solidFill>
                <a:srgbClr val="222222"/>
              </a:solidFill>
              <a:latin typeface="Pretendard"/>
              <a:ea typeface="Pretendard"/>
              <a:cs typeface="Pretendard"/>
            </a:endParaRPr>
          </a:p>
          <a:p>
            <a:pPr algn="ctr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사업은 그다음 날에도</a:t>
            </a:r>
          </a:p>
          <a:p>
            <a:pPr algn="ctr">
              <a:lnSpc>
                <a:spcPct val="102000"/>
              </a:lnSpc>
              <a:buNone/>
              <a:defRPr sz="2400">
                <a:solidFill>
                  <a:srgbClr val="222222"/>
                </a:solidFill>
                <a:latin typeface="Pretendard"/>
                <a:ea typeface="Pretendard"/>
                <a:cs typeface="Pretendard"/>
              </a:defRPr>
            </a:pPr>
            <a:r>
              <a:rPr sz="240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계속할 수 있는 ‘그냥’에서 자랍니다.</a:t>
            </a:r>
          </a:p>
        </p:txBody>
      </p:sp>
      <p:sp>
        <p:nvSpPr>
          <p:cNvPr id="3" name="card-8-emphasis">
            <a:extLst>
              <a:ext uri="{FF2B5EF4-FFF2-40B4-BE49-F238E27FC236}">
                <a16:creationId xmlns:a16="http://schemas.microsoft.com/office/drawing/2014/main" id="{F37DB4DC-08F8-44C2-AEAE-C4408C5A7EE3}"/>
              </a:ext>
            </a:extLst>
          </p:cNvPr>
          <p:cNvSpPr>
            <a:spLocks noGrp="1"/>
          </p:cNvSpPr>
          <p:nvPr/>
        </p:nvSpPr>
        <p:spPr>
          <a:xfrm>
            <a:off x="1143000" y="8239125"/>
            <a:ext cx="8001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수많은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‘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그냥’을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쌓아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 algn="ctr">
              <a:lnSpc>
                <a:spcPct val="95000"/>
              </a:lnSpc>
              <a:buNone/>
              <a:defRPr sz="2775" b="1" u="sng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나만의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75" b="1" u="sng" dirty="0" err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것으로</a:t>
            </a:r>
            <a:r>
              <a:rPr sz="2775" b="1" u="sng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7357" y="9990364"/>
            <a:ext cx="2092286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985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549</Words>
  <Application>Microsoft Macintosh PowerPoint</Application>
  <DocSecurity>0</DocSecurity>
  <PresentationFormat>사용자 지정</PresentationFormat>
  <Paragraphs>101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김 성우</cp:lastModifiedBy>
  <cp:revision>9</cp:revision>
  <dcterms:created xsi:type="dcterms:W3CDTF">2026-08-24T18:12:44Z</dcterms:created>
  <dcterms:modified xsi:type="dcterms:W3CDTF">2026-08-25T02:52:04Z</dcterms:modified>
</cp:coreProperties>
</file>